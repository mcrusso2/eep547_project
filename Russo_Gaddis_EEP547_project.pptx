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5" r:id="rId8"/>
    <p:sldId id="262" r:id="rId9"/>
    <p:sldId id="267" r:id="rId10"/>
    <p:sldId id="268" r:id="rId11"/>
    <p:sldId id="269" r:id="rId12"/>
    <p:sldId id="266" r:id="rId13"/>
    <p:sldId id="26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907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2098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932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0623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8001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943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655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5293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691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6354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080964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02160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51815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9142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37547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439DC8-76EB-4A8A-AFCB-02BC78CA92B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202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439DC8-76EB-4A8A-AFCB-02BC78CA92B0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BD5AA2A8-BEC5-4688-9943-33D123AC392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7714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DB8BD-2C02-39A9-BFA2-B17E7C9AE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EEP 547 – Linear System Theory</a:t>
            </a:r>
            <a:br>
              <a:rPr lang="en-US" dirty="0"/>
            </a:br>
            <a:br>
              <a:rPr lang="en-US" dirty="0"/>
            </a:br>
            <a:r>
              <a:rPr lang="en-US" dirty="0" err="1"/>
              <a:t>MinSeg</a:t>
            </a:r>
            <a:r>
              <a:rPr lang="en-US" dirty="0"/>
              <a:t> Project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01E33B-27C7-C212-45BE-664A5DA7E8D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Presented by: </a:t>
            </a:r>
          </a:p>
          <a:p>
            <a:r>
              <a:rPr lang="en-US" dirty="0"/>
              <a:t>Matthew Russo</a:t>
            </a:r>
          </a:p>
          <a:p>
            <a:r>
              <a:rPr lang="en-US" dirty="0"/>
              <a:t>Jayce Gaddis</a:t>
            </a:r>
          </a:p>
        </p:txBody>
      </p:sp>
    </p:spTree>
    <p:extLst>
      <p:ext uri="{BB962C8B-B14F-4D97-AF65-F5344CB8AC3E}">
        <p14:creationId xmlns:p14="http://schemas.microsoft.com/office/powerpoint/2010/main" val="5178625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DEBAA-AC42-661D-6A58-CA4D71AF8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8222D-1D20-FDDD-7AB8-66B976DD9A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3 different models to get the inverted pendulum</a:t>
            </a:r>
          </a:p>
          <a:p>
            <a:pPr lvl="1"/>
            <a:r>
              <a:rPr lang="en-US" sz="2000" dirty="0"/>
              <a:t>Feedback controller with state estimator (closed-loop full-dimensional observer)</a:t>
            </a:r>
          </a:p>
          <a:p>
            <a:pPr lvl="1"/>
            <a:r>
              <a:rPr lang="en-US" sz="2000" dirty="0"/>
              <a:t>PID controller</a:t>
            </a:r>
          </a:p>
          <a:p>
            <a:pPr lvl="1"/>
            <a:r>
              <a:rPr lang="en-US" sz="2000" dirty="0"/>
              <a:t>LQR controller</a:t>
            </a:r>
          </a:p>
          <a:p>
            <a:pPr lvl="1"/>
            <a:endParaRPr lang="en-US" sz="2000" dirty="0"/>
          </a:p>
          <a:p>
            <a:r>
              <a:rPr lang="en-US" sz="2400" dirty="0"/>
              <a:t>All 3 where tested, but what was used?</a:t>
            </a:r>
          </a:p>
          <a:p>
            <a:pPr lvl="1"/>
            <a:r>
              <a:rPr lang="en-US" sz="2000" dirty="0"/>
              <a:t>LQR controller~!</a:t>
            </a: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781315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4E9E2-26A4-6FD0-A2B2-458F8CB9E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Analysis of Stability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4624A6-6312-CB4B-4024-C3E0C69E09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930400"/>
            <a:ext cx="8596668" cy="4317999"/>
          </a:xfrm>
        </p:spPr>
        <p:txBody>
          <a:bodyPr>
            <a:normAutofit/>
          </a:bodyPr>
          <a:lstStyle/>
          <a:p>
            <a:r>
              <a:rPr lang="en-US" sz="2000" dirty="0"/>
              <a:t>A = 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pPr fontAlgn="base"/>
            <a:r>
              <a:rPr lang="nl-NL" sz="2000" dirty="0"/>
              <a:t>Eigenvalues: 0, -578.8, 6.3332, -6.2592</a:t>
            </a:r>
          </a:p>
          <a:p>
            <a:r>
              <a:rPr lang="en-US" sz="2000" dirty="0"/>
              <a:t>Roots: </a:t>
            </a:r>
            <a:r>
              <a:rPr lang="nl-NL" sz="2000" dirty="0"/>
              <a:t>0, -578.8, 6.3332, -6.2592</a:t>
            </a:r>
          </a:p>
          <a:p>
            <a:endParaRPr lang="nl-NL" sz="2000" dirty="0"/>
          </a:p>
          <a:p>
            <a:r>
              <a:rPr lang="nl-NL" sz="2000" dirty="0"/>
              <a:t>No stability</a:t>
            </a:r>
          </a:p>
          <a:p>
            <a:pPr lvl="1"/>
            <a:r>
              <a:rPr lang="en-US" sz="1800" dirty="0"/>
              <a:t>Asymptotically stable? – positive eigenvalue</a:t>
            </a:r>
            <a:endParaRPr lang="nl-NL" sz="1800" dirty="0"/>
          </a:p>
          <a:p>
            <a:pPr lvl="1"/>
            <a:r>
              <a:rPr lang="nl-NL" sz="1800" dirty="0"/>
              <a:t>BIBO stable? – positive root</a:t>
            </a:r>
          </a:p>
          <a:p>
            <a:endParaRPr lang="nl-NL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1F27007-E935-7BA4-29ED-3C3094F81C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718383"/>
              </p:ext>
            </p:extLst>
          </p:nvPr>
        </p:nvGraphicFramePr>
        <p:xfrm>
          <a:off x="1464734" y="1860126"/>
          <a:ext cx="8128000" cy="1483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94415152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86731265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4975841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6707952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09323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82.5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-61.8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-2945.1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4234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6076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-10.9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-516.9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8209564"/>
                  </a:ext>
                </a:extLst>
              </a:tr>
            </a:tbl>
          </a:graphicData>
        </a:graphic>
      </p:graphicFrame>
      <p:sp>
        <p:nvSpPr>
          <p:cNvPr id="6" name="Oval 5">
            <a:extLst>
              <a:ext uri="{FF2B5EF4-FFF2-40B4-BE49-F238E27FC236}">
                <a16:creationId xmlns:a16="http://schemas.microsoft.com/office/drawing/2014/main" id="{DF77B2BB-7350-A609-A2C6-C98A4E64BDAC}"/>
              </a:ext>
            </a:extLst>
          </p:cNvPr>
          <p:cNvSpPr>
            <a:spLocks/>
          </p:cNvSpPr>
          <p:nvPr/>
        </p:nvSpPr>
        <p:spPr>
          <a:xfrm>
            <a:off x="3784597" y="3598951"/>
            <a:ext cx="972164" cy="52916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071C168-9B41-168F-66C5-8371583F49CB}"/>
              </a:ext>
            </a:extLst>
          </p:cNvPr>
          <p:cNvSpPr>
            <a:spLocks/>
          </p:cNvSpPr>
          <p:nvPr/>
        </p:nvSpPr>
        <p:spPr>
          <a:xfrm>
            <a:off x="2945166" y="4026516"/>
            <a:ext cx="1041397" cy="52916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10502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ECC64-46B7-17BB-6B9B-FAA1DF52C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E9B27D-10B6-C5A9-9F93-E0904E364A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Length(A) = 4</a:t>
            </a:r>
          </a:p>
          <a:p>
            <a:endParaRPr lang="en-US" sz="2400" dirty="0"/>
          </a:p>
          <a:p>
            <a:r>
              <a:rPr lang="en-US" sz="2400" dirty="0" err="1"/>
              <a:t>ctrbRank</a:t>
            </a:r>
            <a:r>
              <a:rPr lang="en-US" sz="2400" dirty="0"/>
              <a:t> = 4</a:t>
            </a:r>
          </a:p>
          <a:p>
            <a:endParaRPr lang="en-US" sz="2400" dirty="0"/>
          </a:p>
          <a:p>
            <a:r>
              <a:rPr lang="en-US" sz="2400" dirty="0"/>
              <a:t>Controllable – able to reach any new state with controlled input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C8FA99A-7787-0953-3ACD-B9AFD9103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904" y="1930400"/>
            <a:ext cx="6080969" cy="680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86443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80C9C-082F-3121-D7A0-C40883EB9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Observability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9549BC-673D-B66B-CBB2-E60ECE9AF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Length(A) = 4</a:t>
            </a:r>
          </a:p>
          <a:p>
            <a:endParaRPr lang="en-US" sz="2400" dirty="0"/>
          </a:p>
          <a:p>
            <a:r>
              <a:rPr lang="en-US" sz="2400" dirty="0" err="1"/>
              <a:t>obsvRank</a:t>
            </a:r>
            <a:r>
              <a:rPr lang="en-US" sz="2400" dirty="0"/>
              <a:t> = 4</a:t>
            </a:r>
          </a:p>
          <a:p>
            <a:endParaRPr lang="en-US" sz="2400" dirty="0"/>
          </a:p>
          <a:p>
            <a:r>
              <a:rPr lang="en-US" sz="2400" dirty="0"/>
              <a:t>Observable – all states can be known from the output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064765-E2D9-5D18-D201-A9ACD2777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915" y="1994958"/>
            <a:ext cx="6672791" cy="49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4983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77705-EBFD-1344-F6BB-5D0EA9129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Controller and Estimator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F4CFE0-C68C-0C39-DAF0-5047D069741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7334" y="2160589"/>
                <a:ext cx="5071533" cy="3880773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Using closed-loop full-dimensional observer</a:t>
                </a:r>
              </a:p>
              <a:p>
                <a:pPr lvl="1"/>
                <a:r>
                  <a:rPr lang="en-US" sz="1800" dirty="0"/>
                  <a:t>Able to create model that quickly dampens to zero</a:t>
                </a:r>
              </a:p>
              <a:p>
                <a:pPr lvl="1"/>
                <a:endParaRPr lang="en-US" sz="1800" dirty="0"/>
              </a:p>
              <a:p>
                <a:r>
                  <a:rPr lang="en-US" sz="2000" dirty="0"/>
                  <a:t>Expected error for the observer is on the magnitude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−7</m:t>
                        </m:r>
                      </m:sup>
                    </m:sSup>
                  </m:oMath>
                </a14:m>
                <a:r>
                  <a:rPr lang="en-US" sz="2000" dirty="0"/>
                  <a:t> </a:t>
                </a:r>
              </a:p>
              <a:p>
                <a:pPr lvl="1"/>
                <a:r>
                  <a:rPr lang="en-US" sz="1800" dirty="0"/>
                  <a:t>Less than the micro scale for error!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6F4CFE0-C68C-0C39-DAF0-5047D06974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7334" y="2160589"/>
                <a:ext cx="5071533" cy="3880773"/>
              </a:xfrm>
              <a:blipFill>
                <a:blip r:embed="rId2"/>
                <a:stretch>
                  <a:fillRect l="-481" t="-9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B3EEFD79-D963-A00A-13AF-2D96AEBCA3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676" y="1422400"/>
            <a:ext cx="6510260" cy="439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638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47146-D15A-DE84-5B35-0B90D1EA1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B7D19-4C11-61E8-63EF-9A56FADC7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of Stability – New poles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E52E24-12B3-C614-C204-880B569209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 err="1"/>
              <a:t>desiredPropGainPoles</a:t>
            </a:r>
            <a:r>
              <a:rPr lang="en-US" sz="2000" dirty="0"/>
              <a:t> = [-24, -18, -16, -12];</a:t>
            </a:r>
          </a:p>
          <a:p>
            <a:endParaRPr lang="en-US" sz="2000" dirty="0"/>
          </a:p>
          <a:p>
            <a:r>
              <a:rPr lang="en-US" sz="2000" dirty="0" err="1"/>
              <a:t>A_cl</a:t>
            </a:r>
            <a:r>
              <a:rPr lang="en-US" sz="2000" dirty="0"/>
              <a:t> = A-BK = 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Closed-loop eigenvalues = [-24, -18, -16, -12];</a:t>
            </a:r>
          </a:p>
          <a:p>
            <a:endParaRPr lang="en-US" sz="2000" dirty="0"/>
          </a:p>
          <a:p>
            <a:r>
              <a:rPr lang="en-US" sz="2000" dirty="0"/>
              <a:t>System Stable~!</a:t>
            </a:r>
          </a:p>
          <a:p>
            <a:endParaRPr lang="en-US" sz="20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0A51490-E095-838D-7D00-63D049F899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2183378"/>
              </p:ext>
            </p:extLst>
          </p:nvPr>
        </p:nvGraphicFramePr>
        <p:xfrm>
          <a:off x="2713105" y="2964921"/>
          <a:ext cx="6469844" cy="148336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17461">
                  <a:extLst>
                    <a:ext uri="{9D8B030D-6E8A-4147-A177-3AD203B41FA5}">
                      <a16:colId xmlns:a16="http://schemas.microsoft.com/office/drawing/2014/main" val="2411788890"/>
                    </a:ext>
                  </a:extLst>
                </a:gridCol>
                <a:gridCol w="1617461">
                  <a:extLst>
                    <a:ext uri="{9D8B030D-6E8A-4147-A177-3AD203B41FA5}">
                      <a16:colId xmlns:a16="http://schemas.microsoft.com/office/drawing/2014/main" val="4138382107"/>
                    </a:ext>
                  </a:extLst>
                </a:gridCol>
                <a:gridCol w="1617461">
                  <a:extLst>
                    <a:ext uri="{9D8B030D-6E8A-4147-A177-3AD203B41FA5}">
                      <a16:colId xmlns:a16="http://schemas.microsoft.com/office/drawing/2014/main" val="3185096910"/>
                    </a:ext>
                  </a:extLst>
                </a:gridCol>
                <a:gridCol w="1617461">
                  <a:extLst>
                    <a:ext uri="{9D8B030D-6E8A-4147-A177-3AD203B41FA5}">
                      <a16:colId xmlns:a16="http://schemas.microsoft.com/office/drawing/2014/main" val="3980053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3798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-13425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-2167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8830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6259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659005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103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-2364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-380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43416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78909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BC453-1CA5-0CF7-55D7-7A8B64E620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Video proof? Feedback with Estimator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D843D-7607-E263-6BDB-A1C6655431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4398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63204-56BD-DF7B-FA80-16AE7AA43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Video proof? – </a:t>
            </a:r>
            <a:r>
              <a:rPr lang="en-US"/>
              <a:t>PID Controller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591265-1AEA-E6A7-0B29-185C8DA619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863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2E9D1-8C7C-A7A1-8517-685016200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Video proof? – LQR Controller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4399AF-BA4F-7F2A-861D-980ED1F86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2898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9D645-1544-4E27-33A1-B64E376D6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2467D9-405B-E1D9-720B-84F9A35BC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017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D5CF1-196F-37FD-687F-F38B90C67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01FEEF-3BF4-8897-FDE1-84E7769169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359FB152-8816-C547-BE73-C084969C1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7716" y="1554731"/>
            <a:ext cx="6780700" cy="3627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35551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B4DE830A-B531-4A3B-96F6-0ECE88B085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2813DF2C-461A-4A8F-9679-A172790D1F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4CD3A85-C039-4249-86E4-1EB9318B5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23">
              <a:extLst>
                <a:ext uri="{FF2B5EF4-FFF2-40B4-BE49-F238E27FC236}">
                  <a16:creationId xmlns:a16="http://schemas.microsoft.com/office/drawing/2014/main" id="{887EA6D2-2883-42C2-993D-094CA6D65D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5">
              <a:extLst>
                <a:ext uri="{FF2B5EF4-FFF2-40B4-BE49-F238E27FC236}">
                  <a16:creationId xmlns:a16="http://schemas.microsoft.com/office/drawing/2014/main" id="{3B895046-636F-4D1B-ACA4-29AA0CB332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C6B0CDE3-E054-4EDD-A43B-F96843D8BF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27">
              <a:extLst>
                <a:ext uri="{FF2B5EF4-FFF2-40B4-BE49-F238E27FC236}">
                  <a16:creationId xmlns:a16="http://schemas.microsoft.com/office/drawing/2014/main" id="{3B66B1A2-F145-4C9B-85CC-4BF30D58CB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5D4FC972-94B3-4035-8D31-E668C132B4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Rectangle 29">
              <a:extLst>
                <a:ext uri="{FF2B5EF4-FFF2-40B4-BE49-F238E27FC236}">
                  <a16:creationId xmlns:a16="http://schemas.microsoft.com/office/drawing/2014/main" id="{374B9941-AFBE-4A77-A50E-B6EA04A746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27A982C5-2C38-4CE9-BC18-94697AD657F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0060D8D1-7BB1-498F-AFBB-ADAC130A9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0DED8EC5-6B35-F0BB-5471-0642CC3E70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4337" y="1265314"/>
            <a:ext cx="4299666" cy="324913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kern="1200" dirty="0">
                <a:solidFill>
                  <a:schemeClr val="accent1"/>
                </a:solidFill>
                <a:latin typeface="+mj-lt"/>
                <a:ea typeface="+mj-ea"/>
                <a:cs typeface="+mj-cs"/>
              </a:rPr>
              <a:t>Thank you</a:t>
            </a:r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5A7802B6-FF37-40CF-A7E2-6F2A0D9A9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3174" y="1270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Graphic 6" descr="Smiling Face with No Fill">
            <a:extLst>
              <a:ext uri="{FF2B5EF4-FFF2-40B4-BE49-F238E27FC236}">
                <a16:creationId xmlns:a16="http://schemas.microsoft.com/office/drawing/2014/main" id="{677F8784-B81D-345D-016C-0FB90371CC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8604" y="1550139"/>
            <a:ext cx="3765692" cy="37656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571492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535</TotalTime>
  <Words>276</Words>
  <Application>Microsoft Office PowerPoint</Application>
  <PresentationFormat>Widescreen</PresentationFormat>
  <Paragraphs>94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Cambria Math</vt:lpstr>
      <vt:lpstr>Trebuchet MS</vt:lpstr>
      <vt:lpstr>Wingdings 3</vt:lpstr>
      <vt:lpstr>Facet</vt:lpstr>
      <vt:lpstr>EEP 547 – Linear System Theory  MinSeg Project</vt:lpstr>
      <vt:lpstr>Models</vt:lpstr>
      <vt:lpstr>Analysis of Stability</vt:lpstr>
      <vt:lpstr>Controllability</vt:lpstr>
      <vt:lpstr>Observability</vt:lpstr>
      <vt:lpstr>Controller and Estimator</vt:lpstr>
      <vt:lpstr>Analysis of Stability – New poles</vt:lpstr>
      <vt:lpstr>Video proof? Feedback with Estimator</vt:lpstr>
      <vt:lpstr>Video proof? – PID Controller</vt:lpstr>
      <vt:lpstr>Video proof? – LQR Controller</vt:lpstr>
      <vt:lpstr>Sensor</vt:lpstr>
      <vt:lpstr>Challenges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mcrusso</dc:creator>
  <cp:lastModifiedBy>mcrusso</cp:lastModifiedBy>
  <cp:revision>6</cp:revision>
  <dcterms:created xsi:type="dcterms:W3CDTF">2025-12-01T23:06:05Z</dcterms:created>
  <dcterms:modified xsi:type="dcterms:W3CDTF">2025-12-03T06:05:08Z</dcterms:modified>
</cp:coreProperties>
</file>